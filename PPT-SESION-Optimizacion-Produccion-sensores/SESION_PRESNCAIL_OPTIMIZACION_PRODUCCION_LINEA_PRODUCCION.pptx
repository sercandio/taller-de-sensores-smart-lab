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0" r:id="rId4"/>
    <p:sldId id="271" r:id="rId5"/>
    <p:sldId id="267" r:id="rId6"/>
    <p:sldId id="307" r:id="rId7"/>
    <p:sldId id="296" r:id="rId8"/>
    <p:sldId id="333" r:id="rId9"/>
    <p:sldId id="259" r:id="rId10"/>
    <p:sldId id="341" r:id="rId11"/>
    <p:sldId id="342" r:id="rId12"/>
    <p:sldId id="343" r:id="rId13"/>
    <p:sldId id="344" r:id="rId14"/>
    <p:sldId id="345" r:id="rId15"/>
    <p:sldId id="346" r:id="rId1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2" autoAdjust="0"/>
    <p:restoredTop sz="94660"/>
  </p:normalViewPr>
  <p:slideViewPr>
    <p:cSldViewPr snapToGrid="0">
      <p:cViewPr varScale="1">
        <p:scale>
          <a:sx n="72" d="100"/>
          <a:sy n="72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7267BC-1DF9-B8E5-6047-96E7B7763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5F7D9A-01EF-3211-FA5E-ED530B4B0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3B9A25-7B06-30E3-FD0F-BE3987619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2A24-9892-4413-A83B-EA0BA904199E}" type="datetimeFigureOut">
              <a:rPr lang="es-PE" smtClean="0"/>
              <a:t>10/06/2025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0B6978-9FAF-735B-1581-DF98F9B32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489A70-AA9B-ABD7-0940-4D476D8DE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AE62B-9502-4A0B-A195-94C29D336A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6458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DE5A1-88FB-8F73-AD20-6E7009E18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2C5275-5135-D1DF-E31A-CE9C3F53A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AF67E7-122E-9706-7F05-AF5B3B03F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2A24-9892-4413-A83B-EA0BA904199E}" type="datetimeFigureOut">
              <a:rPr lang="es-PE" smtClean="0"/>
              <a:t>10/06/2025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30C758-349E-CC16-0736-F827357E9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E3B625-E2EC-1091-37FE-F4106D7DC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AE62B-9502-4A0B-A195-94C29D336A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11848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91312-58F9-71D2-80F8-D67C6D677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33CC07-2F3E-89E8-03E4-5C900874F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DB49AB-B0CF-2F60-5F8D-00247EF89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2A24-9892-4413-A83B-EA0BA904199E}" type="datetimeFigureOut">
              <a:rPr lang="es-PE" smtClean="0"/>
              <a:t>10/06/2025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56341A-9DA1-2A9C-417B-5747B8952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408DD2-61C5-432C-56A6-968A5CA9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AE62B-9502-4A0B-A195-94C29D336A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92727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1D443-B69F-C50C-1719-576A192A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3D5F5C-A6F5-9664-B467-E2E67BCDFC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927CB9-C4AE-53A9-D92C-78D1101777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25910C-DB6E-15C8-9AEF-1290F3FB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2A24-9892-4413-A83B-EA0BA904199E}" type="datetimeFigureOut">
              <a:rPr lang="es-PE" smtClean="0"/>
              <a:t>10/06/2025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9E28C2-5E8C-EB6F-69D1-6CE6C95F5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F1215C7-85B5-5473-0AF9-F3B00282C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AE62B-9502-4A0B-A195-94C29D336A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83543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49C2E6-C8FA-D929-EE52-A73D24AAB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273D3B-D881-A2FF-F543-D888B054E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A8E2BC-E9D2-4254-7753-E1AD667D4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513D8B7-4E4D-2D40-AE25-7CA147CA9C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DB38A8E-FF07-3B7C-563C-95A67045F3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AF4CCF3-6C53-5BA6-71A8-FC782CA7A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2A24-9892-4413-A83B-EA0BA904199E}" type="datetimeFigureOut">
              <a:rPr lang="es-PE" smtClean="0"/>
              <a:t>10/06/2025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74EA2C-DE2C-79E2-E79A-F52F340D0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F6A80B5-8322-4673-8BC0-1A93ED03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AE62B-9502-4A0B-A195-94C29D336A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93924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4E88B-B000-7CE6-300B-CF5147737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44D7A9B-7BA1-57A5-E67C-A0F855BEE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2A24-9892-4413-A83B-EA0BA904199E}" type="datetimeFigureOut">
              <a:rPr lang="es-PE" smtClean="0"/>
              <a:t>10/06/2025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50A6B63-D164-E6A7-C968-7788CD706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82D4981-F958-9FB9-88F7-30D5770F3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AE62B-9502-4A0B-A195-94C29D336A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6988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506797D-39BD-E9E3-885E-80659B0D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2A24-9892-4413-A83B-EA0BA904199E}" type="datetimeFigureOut">
              <a:rPr lang="es-PE" smtClean="0"/>
              <a:t>10/06/2025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A291C54-7AFC-87AE-0B14-F9ED58766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9A3463-7D0C-4B89-4C14-DE0101BB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AE62B-9502-4A0B-A195-94C29D336A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4847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3354E-8D84-5889-0480-44D02D7EF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EDEC37-8DD8-9A8F-0FBE-654D34F8F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905AC2-F7FB-AB43-0B43-7B8DEF300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B53225-D30C-E45F-4BDB-0B36B19BC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2A24-9892-4413-A83B-EA0BA904199E}" type="datetimeFigureOut">
              <a:rPr lang="es-PE" smtClean="0"/>
              <a:t>10/06/2025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B8B1B0-8A7A-AEFF-1B35-E34D77319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41431F-2CF0-3970-E87E-4F43C928B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AE62B-9502-4A0B-A195-94C29D336A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34371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09BCC-9F67-5613-1575-B846705F2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1E7C62A-0C79-3CA4-7BCC-1B11689338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0192A6-A709-194A-72F6-5E6A261DB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E6CEA4-844E-E18D-9747-F7EBBE9DA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2A24-9892-4413-A83B-EA0BA904199E}" type="datetimeFigureOut">
              <a:rPr lang="es-PE" smtClean="0"/>
              <a:t>10/06/2025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6BCC76-04A2-CDA1-E086-E62F2135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2D2DDB-3006-1E45-006C-C7029374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AE62B-9502-4A0B-A195-94C29D336A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4308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63A58A-A2E3-ADC3-64B1-D747DAC34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AFC618-E8D1-CB88-6C69-E935068DC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D4BD26-2A37-C43E-34E3-AABD36D88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2A24-9892-4413-A83B-EA0BA904199E}" type="datetimeFigureOut">
              <a:rPr lang="es-PE" smtClean="0"/>
              <a:t>10/06/2025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C02D39-D9F5-8830-4BFE-C2B7ECB01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F6631F-34CA-60FA-0180-E1EFD8CE9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AE62B-9502-4A0B-A195-94C29D336A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25430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2561900-EA82-BA6B-1892-BB0A79BD0A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6ABB87-BCB3-389F-94ED-53D6B1969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78CB54-1D42-052F-59C9-0071E84C4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2A24-9892-4413-A83B-EA0BA904199E}" type="datetimeFigureOut">
              <a:rPr lang="es-PE" smtClean="0"/>
              <a:t>10/06/2025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83B3D0-0A92-4FE4-508F-099A3CB72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851CE5-C551-A277-A415-25AA053B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AE62B-9502-4A0B-A195-94C29D336A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6040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960000" y="1631900"/>
            <a:ext cx="10272000" cy="6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133"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33"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133"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133"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33"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133"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133"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33"/>
            </a:lvl9pPr>
          </a:lstStyle>
          <a:p>
            <a:endParaRPr/>
          </a:p>
        </p:txBody>
      </p:sp>
      <p:sp>
        <p:nvSpPr>
          <p:cNvPr id="24" name="Google Shape;24;p4"/>
          <p:cNvSpPr/>
          <p:nvPr/>
        </p:nvSpPr>
        <p:spPr>
          <a:xfrm rot="10800000">
            <a:off x="0" y="-11533"/>
            <a:ext cx="942200" cy="1461733"/>
          </a:xfrm>
          <a:custGeom>
            <a:avLst/>
            <a:gdLst/>
            <a:ahLst/>
            <a:cxnLst/>
            <a:rect l="l" t="t" r="r" b="b"/>
            <a:pathLst>
              <a:path w="28266" h="43852" extrusionOk="0">
                <a:moveTo>
                  <a:pt x="22729" y="1"/>
                </a:moveTo>
                <a:cubicBezTo>
                  <a:pt x="22027" y="1"/>
                  <a:pt x="21420" y="251"/>
                  <a:pt x="20908" y="775"/>
                </a:cubicBezTo>
                <a:cubicBezTo>
                  <a:pt x="20396" y="1275"/>
                  <a:pt x="20134" y="1894"/>
                  <a:pt x="20134" y="2584"/>
                </a:cubicBezTo>
                <a:lnTo>
                  <a:pt x="20134" y="26183"/>
                </a:lnTo>
                <a:cubicBezTo>
                  <a:pt x="20134" y="32052"/>
                  <a:pt x="17193" y="35005"/>
                  <a:pt x="11311" y="35005"/>
                </a:cubicBezTo>
                <a:lnTo>
                  <a:pt x="2584" y="35005"/>
                </a:lnTo>
                <a:cubicBezTo>
                  <a:pt x="1893" y="35005"/>
                  <a:pt x="1274" y="35255"/>
                  <a:pt x="774" y="35779"/>
                </a:cubicBezTo>
                <a:cubicBezTo>
                  <a:pt x="262" y="36279"/>
                  <a:pt x="0" y="36898"/>
                  <a:pt x="0" y="37589"/>
                </a:cubicBezTo>
                <a:lnTo>
                  <a:pt x="0" y="43851"/>
                </a:lnTo>
                <a:lnTo>
                  <a:pt x="28266" y="43851"/>
                </a:lnTo>
                <a:lnTo>
                  <a:pt x="28266" y="43839"/>
                </a:lnTo>
                <a:lnTo>
                  <a:pt x="2826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4"/>
          <p:cNvSpPr/>
          <p:nvPr/>
        </p:nvSpPr>
        <p:spPr>
          <a:xfrm>
            <a:off x="11251600" y="5407800"/>
            <a:ext cx="942200" cy="1461733"/>
          </a:xfrm>
          <a:custGeom>
            <a:avLst/>
            <a:gdLst/>
            <a:ahLst/>
            <a:cxnLst/>
            <a:rect l="l" t="t" r="r" b="b"/>
            <a:pathLst>
              <a:path w="28266" h="43852" extrusionOk="0">
                <a:moveTo>
                  <a:pt x="22729" y="1"/>
                </a:moveTo>
                <a:cubicBezTo>
                  <a:pt x="22027" y="1"/>
                  <a:pt x="21420" y="251"/>
                  <a:pt x="20908" y="775"/>
                </a:cubicBezTo>
                <a:cubicBezTo>
                  <a:pt x="20396" y="1275"/>
                  <a:pt x="20134" y="1894"/>
                  <a:pt x="20134" y="2584"/>
                </a:cubicBezTo>
                <a:lnTo>
                  <a:pt x="20134" y="26183"/>
                </a:lnTo>
                <a:cubicBezTo>
                  <a:pt x="20134" y="32052"/>
                  <a:pt x="17193" y="35005"/>
                  <a:pt x="11311" y="35005"/>
                </a:cubicBezTo>
                <a:lnTo>
                  <a:pt x="2584" y="35005"/>
                </a:lnTo>
                <a:cubicBezTo>
                  <a:pt x="1893" y="35005"/>
                  <a:pt x="1274" y="35255"/>
                  <a:pt x="774" y="35779"/>
                </a:cubicBezTo>
                <a:cubicBezTo>
                  <a:pt x="262" y="36279"/>
                  <a:pt x="0" y="36898"/>
                  <a:pt x="0" y="37589"/>
                </a:cubicBezTo>
                <a:lnTo>
                  <a:pt x="0" y="43851"/>
                </a:lnTo>
                <a:lnTo>
                  <a:pt x="28266" y="43851"/>
                </a:lnTo>
                <a:lnTo>
                  <a:pt x="28266" y="43839"/>
                </a:lnTo>
                <a:lnTo>
                  <a:pt x="2826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02299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E19C08F-2092-7A07-F7D2-AEF9EF1E4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117A38-CDF9-F10C-8C01-32790AC3F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6CD5E9-4A13-CCA7-37D0-534DDFC6E8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72A24-9892-4413-A83B-EA0BA904199E}" type="datetimeFigureOut">
              <a:rPr lang="es-PE" smtClean="0"/>
              <a:t>10/06/2025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20A080-B90C-BD67-2A78-204B03D26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DC9E9C-310B-0512-374C-A55D24D05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1AE62B-9502-4A0B-A195-94C29D336A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27179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S.H_Horikawa_%E2%80%93_Star_Strider_Robot_(%E3%82%B9%E3%82%BF%E3%83%BC%E3%82%B9%E3%83%88%E3%83%A9%E3%82%A4%E3%83%80%E3%83%BC%E3%83%AD%E3%83%9C%E3%83%83%E3%83%88)_%E2%80%93_Front.jpg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gif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rduino.cc/reference/es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7E36FA15-7C89-2137-32B3-73BEC6F59917}"/>
              </a:ext>
            </a:extLst>
          </p:cNvPr>
          <p:cNvSpPr txBox="1"/>
          <p:nvPr/>
        </p:nvSpPr>
        <p:spPr>
          <a:xfrm>
            <a:off x="172668" y="1049134"/>
            <a:ext cx="11846663" cy="177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ES" sz="4800" b="1" dirty="0">
                <a:solidFill>
                  <a:schemeClr val="dk1"/>
                </a:solidFill>
                <a:latin typeface="Anek Latin"/>
                <a:ea typeface="Anek Latin"/>
                <a:cs typeface="Anek Latin"/>
                <a:sym typeface="Anek Latin"/>
              </a:rPr>
              <a:t>Optimización de Producción</a:t>
            </a:r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ES" sz="4800" b="1" dirty="0">
                <a:solidFill>
                  <a:schemeClr val="dk1"/>
                </a:solidFill>
                <a:latin typeface="Anek Latin"/>
                <a:ea typeface="Anek Latin"/>
                <a:cs typeface="Anek Latin"/>
                <a:sym typeface="Anek Latin"/>
              </a:rPr>
              <a:t>con sensores (y actuadores)</a:t>
            </a:r>
            <a:endParaRPr lang="es-PE" sz="4800" b="1" noProof="0" dirty="0">
              <a:solidFill>
                <a:schemeClr val="dk1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7B1F168-F969-BA1F-7CBE-76CED607067E}"/>
              </a:ext>
            </a:extLst>
          </p:cNvPr>
          <p:cNvSpPr txBox="1"/>
          <p:nvPr/>
        </p:nvSpPr>
        <p:spPr>
          <a:xfrm>
            <a:off x="818895" y="4921443"/>
            <a:ext cx="102088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highlight>
                  <a:srgbClr val="FFFF00"/>
                </a:highlight>
              </a:rPr>
              <a:t>[TALLER SMART LAB: ]</a:t>
            </a:r>
            <a:endParaRPr lang="es-PE" sz="4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71759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5537-0032-31A1-29E8-55C708A83618}"/>
              </a:ext>
            </a:extLst>
          </p:cNvPr>
          <p:cNvSpPr txBox="1">
            <a:spLocks/>
          </p:cNvSpPr>
          <p:nvPr/>
        </p:nvSpPr>
        <p:spPr>
          <a:xfrm>
            <a:off x="1821237" y="1367918"/>
            <a:ext cx="11745907" cy="260865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latin typeface="Comic Sans MS" panose="030F0702030302020204" pitchFamily="66" charset="0"/>
              </a:rPr>
              <a:t>¿</a:t>
            </a:r>
            <a:r>
              <a:rPr lang="en-US" sz="6000" b="1" dirty="0" err="1">
                <a:latin typeface="Comic Sans MS" panose="030F0702030302020204" pitchFamily="66" charset="0"/>
              </a:rPr>
              <a:t>Qué</a:t>
            </a:r>
            <a:r>
              <a:rPr lang="en-US" sz="6000" b="1" dirty="0">
                <a:latin typeface="Comic Sans MS" panose="030F0702030302020204" pitchFamily="66" charset="0"/>
              </a:rPr>
              <a:t> es ARDUINO?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B85583C-DF94-3909-95C6-2049C0A15012}"/>
              </a:ext>
            </a:extLst>
          </p:cNvPr>
          <p:cNvSpPr txBox="1"/>
          <p:nvPr/>
        </p:nvSpPr>
        <p:spPr>
          <a:xfrm>
            <a:off x="4816549" y="3413051"/>
            <a:ext cx="3306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>
                <a:latin typeface="Comic Sans MS" panose="030F0702030302020204" pitchFamily="66" charset="0"/>
              </a:rPr>
              <a:t>Ideas? </a:t>
            </a:r>
            <a:endParaRPr lang="es-PE" sz="40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87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91;p44">
            <a:extLst>
              <a:ext uri="{FF2B5EF4-FFF2-40B4-BE49-F238E27FC236}">
                <a16:creationId xmlns:a16="http://schemas.microsoft.com/office/drawing/2014/main" id="{A68522F2-13F6-EECF-F8E6-D50488CA065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77019" y="732200"/>
            <a:ext cx="4045200" cy="5393600"/>
          </a:xfrm>
          <a:prstGeom prst="roundRect">
            <a:avLst>
              <a:gd name="adj" fmla="val 4241"/>
            </a:avLst>
          </a:prstGeom>
        </p:spPr>
      </p:pic>
      <p:sp>
        <p:nvSpPr>
          <p:cNvPr id="3" name="Google Shape;293;p44">
            <a:extLst>
              <a:ext uri="{FF2B5EF4-FFF2-40B4-BE49-F238E27FC236}">
                <a16:creationId xmlns:a16="http://schemas.microsoft.com/office/drawing/2014/main" id="{7A291558-1038-43F5-9488-D7C9D0765F72}"/>
              </a:ext>
            </a:extLst>
          </p:cNvPr>
          <p:cNvSpPr txBox="1">
            <a:spLocks/>
          </p:cNvSpPr>
          <p:nvPr/>
        </p:nvSpPr>
        <p:spPr>
          <a:xfrm>
            <a:off x="5767819" y="476724"/>
            <a:ext cx="5136800" cy="81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¿Qué es Arduino?</a:t>
            </a:r>
            <a:endParaRPr lang="en-US" b="1" dirty="0"/>
          </a:p>
        </p:txBody>
      </p:sp>
      <p:sp>
        <p:nvSpPr>
          <p:cNvPr id="4" name="Google Shape;297;p44">
            <a:extLst>
              <a:ext uri="{FF2B5EF4-FFF2-40B4-BE49-F238E27FC236}">
                <a16:creationId xmlns:a16="http://schemas.microsoft.com/office/drawing/2014/main" id="{97B1648D-8930-9E3E-BB06-02C1B75AD3A1}"/>
              </a:ext>
            </a:extLst>
          </p:cNvPr>
          <p:cNvSpPr/>
          <p:nvPr/>
        </p:nvSpPr>
        <p:spPr>
          <a:xfrm>
            <a:off x="4253364" y="5526196"/>
            <a:ext cx="1036800" cy="266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85E27F01-314D-2B30-3FC9-164B1847F8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121" y="447258"/>
            <a:ext cx="1402108" cy="1233218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2C8C9F0C-4D7A-843E-207D-52CD0E74EBDD}"/>
              </a:ext>
            </a:extLst>
          </p:cNvPr>
          <p:cNvSpPr txBox="1"/>
          <p:nvPr/>
        </p:nvSpPr>
        <p:spPr>
          <a:xfrm>
            <a:off x="5172152" y="1504212"/>
            <a:ext cx="647301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9750" indent="-539750" algn="just">
              <a:buBlip>
                <a:blip r:embed="rId5"/>
              </a:buBlip>
            </a:pPr>
            <a:r>
              <a:rPr lang="es-ES" sz="2400" dirty="0">
                <a:solidFill>
                  <a:srgbClr val="336699"/>
                </a:solidFill>
              </a:rPr>
              <a:t>Plataforma de desarrollo basado Hardware y software libre.</a:t>
            </a:r>
          </a:p>
          <a:p>
            <a:pPr marL="539750" indent="-539750" algn="just">
              <a:buBlip>
                <a:blip r:embed="rId5"/>
              </a:buBlip>
            </a:pPr>
            <a:r>
              <a:rPr lang="es-ES" sz="2400" dirty="0">
                <a:solidFill>
                  <a:srgbClr val="336699"/>
                </a:solidFill>
              </a:rPr>
              <a:t>El microcontrolador en la placa Arduino se programa mediante el lenguaje de programación Arduino (Basado en Wiring).</a:t>
            </a:r>
          </a:p>
          <a:p>
            <a:pPr marL="539750" indent="-539750" algn="just">
              <a:buBlip>
                <a:blip r:embed="rId5"/>
              </a:buBlip>
            </a:pPr>
            <a:r>
              <a:rPr lang="es-ES" sz="2400" dirty="0">
                <a:solidFill>
                  <a:srgbClr val="336699"/>
                </a:solidFill>
              </a:rPr>
              <a:t>El entorno de desarrollo Arduino (IDE) está basado en processing.</a:t>
            </a:r>
          </a:p>
          <a:p>
            <a:pPr marL="539750" indent="-539750" algn="just">
              <a:buBlip>
                <a:blip r:embed="rId5"/>
              </a:buBlip>
            </a:pPr>
            <a:r>
              <a:rPr lang="es-ES" sz="2400" dirty="0">
                <a:solidFill>
                  <a:srgbClr val="336699"/>
                </a:solidFill>
              </a:rPr>
              <a:t>Multiplataforma (Linux, Mac, Windows).</a:t>
            </a:r>
          </a:p>
          <a:p>
            <a:pPr marL="539750" indent="-539750" algn="just">
              <a:buBlip>
                <a:blip r:embed="rId5"/>
              </a:buBlip>
            </a:pPr>
            <a:r>
              <a:rPr lang="es-ES" sz="2400" dirty="0">
                <a:solidFill>
                  <a:srgbClr val="336699"/>
                </a:solidFill>
              </a:rPr>
              <a:t>Facilidad de uso y bajo costo.</a:t>
            </a:r>
          </a:p>
          <a:p>
            <a:pPr marL="539750" indent="-539750" algn="just">
              <a:buBlip>
                <a:blip r:embed="rId5"/>
              </a:buBlip>
            </a:pPr>
            <a:r>
              <a:rPr lang="es-ES" sz="2400" dirty="0">
                <a:solidFill>
                  <a:srgbClr val="336699"/>
                </a:solidFill>
              </a:rPr>
              <a:t>Al alcance de todos los usuarios: estudiantes, artistas, publicistas, ingenieros, etc.</a:t>
            </a:r>
            <a:endParaRPr lang="es-PE" sz="2400" dirty="0">
              <a:solidFill>
                <a:srgbClr val="3366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365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4.bp.blogspot.com/-dcI0kcAtZpk/WYt-ajoU_wI/AAAAAAAEzqU/apSe014E2P4evEE1rriMTkOK3HjahEDmwCKgBGAs/s1600/ArduinoPinout.jpg">
            <a:extLst>
              <a:ext uri="{FF2B5EF4-FFF2-40B4-BE49-F238E27FC236}">
                <a16:creationId xmlns:a16="http://schemas.microsoft.com/office/drawing/2014/main" id="{C4667E76-9C05-701B-9E68-A386A9490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550" y="74428"/>
            <a:ext cx="93589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5398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rduino nano v3.0 - atmega328 mini usb board with free usb cable">
            <a:extLst>
              <a:ext uri="{FF2B5EF4-FFF2-40B4-BE49-F238E27FC236}">
                <a16:creationId xmlns:a16="http://schemas.microsoft.com/office/drawing/2014/main" id="{1E9358A4-1A7E-7AE4-7A7B-15B49012B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911" y="1635077"/>
            <a:ext cx="6318178" cy="474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48F17DB-6706-3AEF-E6CF-C3A63FF84EBC}"/>
              </a:ext>
            </a:extLst>
          </p:cNvPr>
          <p:cNvSpPr txBox="1"/>
          <p:nvPr/>
        </p:nvSpPr>
        <p:spPr>
          <a:xfrm>
            <a:off x="3709583" y="903685"/>
            <a:ext cx="5070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ARDUINO NANO</a:t>
            </a:r>
            <a:endParaRPr lang="es-PE" sz="3600" b="1" dirty="0"/>
          </a:p>
        </p:txBody>
      </p:sp>
    </p:spTree>
    <p:extLst>
      <p:ext uri="{BB962C8B-B14F-4D97-AF65-F5344CB8AC3E}">
        <p14:creationId xmlns:p14="http://schemas.microsoft.com/office/powerpoint/2010/main" val="28304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F04F2919-6E4D-F2CA-883D-4C28DE867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80"/>
          <a:stretch/>
        </p:blipFill>
        <p:spPr>
          <a:xfrm>
            <a:off x="-1504" y="0"/>
            <a:ext cx="12191980" cy="6856718"/>
          </a:xfrm>
          <a:prstGeom prst="rect">
            <a:avLst/>
          </a:prstGeom>
        </p:spPr>
      </p:pic>
      <p:sp>
        <p:nvSpPr>
          <p:cNvPr id="2" name="AutoShape 2" descr="A Comprehensive Guide to Arduino Nano Pinout - TechSparks">
            <a:extLst>
              <a:ext uri="{FF2B5EF4-FFF2-40B4-BE49-F238E27FC236}">
                <a16:creationId xmlns:a16="http://schemas.microsoft.com/office/drawing/2014/main" id="{DAFF66C4-204C-EDEE-68D3-015A5D7B64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28126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17D1C8A-ACF2-2624-5E17-CBAD46CF8398}"/>
              </a:ext>
            </a:extLst>
          </p:cNvPr>
          <p:cNvSpPr/>
          <p:nvPr/>
        </p:nvSpPr>
        <p:spPr>
          <a:xfrm>
            <a:off x="3306005" y="0"/>
            <a:ext cx="557998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4800" dirty="0">
                <a:solidFill>
                  <a:srgbClr val="374151"/>
                </a:solidFill>
                <a:latin typeface="Söhne"/>
              </a:rPr>
              <a:t>¿Como usar Arduino?</a:t>
            </a: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8F0ECEB-2131-1F20-C28F-DEC5F9319E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09" b="7698"/>
          <a:stretch/>
        </p:blipFill>
        <p:spPr bwMode="auto">
          <a:xfrm>
            <a:off x="220104" y="830997"/>
            <a:ext cx="5803009" cy="2733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CF56D14-02A8-74B2-D7CE-2E9B82BD7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904" y="3590726"/>
            <a:ext cx="5295566" cy="3095625"/>
          </a:xfrm>
          <a:prstGeom prst="rect">
            <a:avLst/>
          </a:prstGeom>
        </p:spPr>
      </p:pic>
      <p:pic>
        <p:nvPicPr>
          <p:cNvPr id="5126" name="Picture 6" descr="Function Serial: Print in Only One Line | Arduino, Arduino projects ...">
            <a:extLst>
              <a:ext uri="{FF2B5EF4-FFF2-40B4-BE49-F238E27FC236}">
                <a16:creationId xmlns:a16="http://schemas.microsoft.com/office/drawing/2014/main" id="{50FE5A38-8C80-CB7D-6A18-91CD44DCA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4" y="3688766"/>
            <a:ext cx="5713550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 descr="Una captura de pantalla de un celular con la imagen de un videojuego&#10;&#10;Descripción generada automáticamente con confianza baja">
            <a:extLst>
              <a:ext uri="{FF2B5EF4-FFF2-40B4-BE49-F238E27FC236}">
                <a16:creationId xmlns:a16="http://schemas.microsoft.com/office/drawing/2014/main" id="{0720A7DB-95C4-5310-77A7-7EB18A724A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990" y="789077"/>
            <a:ext cx="5771479" cy="280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08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C52D7-EB68-30B5-2979-CC2709374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525" y="85307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ES" sz="4800" b="1" dirty="0">
                <a:latin typeface="Aptos" panose="020B0004020202020204" pitchFamily="34" charset="0"/>
              </a:rPr>
              <a:t>SINTAXIS</a:t>
            </a:r>
            <a:r>
              <a:rPr lang="es-ES" b="1" dirty="0">
                <a:latin typeface="Aptos" panose="020B0004020202020204" pitchFamily="34" charset="0"/>
              </a:rPr>
              <a:t> DE REFERENCIA Y FUNCIONES </a:t>
            </a:r>
            <a:endParaRPr lang="es-PE" b="1" dirty="0">
              <a:latin typeface="Aptos" panose="020B00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7135B0-1720-FB4F-B9D0-7EBE09C09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525" y="2850454"/>
            <a:ext cx="11115823" cy="2780361"/>
          </a:xfrm>
        </p:spPr>
        <p:txBody>
          <a:bodyPr>
            <a:normAutofit/>
          </a:bodyPr>
          <a:lstStyle/>
          <a:p>
            <a:r>
              <a:rPr lang="es-ES" sz="3600" dirty="0"/>
              <a:t>Ver Aquí: </a:t>
            </a:r>
            <a:r>
              <a:rPr lang="es-ES" sz="3600" b="1" dirty="0">
                <a:hlinkClick r:id="rId2"/>
              </a:rPr>
              <a:t>Guía de Referencia de Arduino</a:t>
            </a:r>
            <a:endParaRPr lang="es-ES" sz="3600" b="1" dirty="0"/>
          </a:p>
          <a:p>
            <a:pPr marL="0" indent="0">
              <a:buNone/>
            </a:pPr>
            <a:endParaRPr lang="es-ES" sz="3600" b="1" dirty="0"/>
          </a:p>
          <a:p>
            <a:r>
              <a:rPr lang="es-ES" sz="3600" dirty="0"/>
              <a:t>Funciones básicas: </a:t>
            </a:r>
            <a:r>
              <a:rPr lang="es-ES" sz="3600" b="1" i="1" dirty="0" err="1"/>
              <a:t>pinMode</a:t>
            </a:r>
            <a:r>
              <a:rPr lang="es-ES" sz="3600" b="1" i="1" dirty="0"/>
              <a:t>(), </a:t>
            </a:r>
            <a:r>
              <a:rPr lang="es-ES" sz="3600" b="1" i="1" dirty="0" err="1"/>
              <a:t>digitalWrite</a:t>
            </a:r>
            <a:r>
              <a:rPr lang="es-ES" sz="3600" b="1" i="1" dirty="0"/>
              <a:t>(), </a:t>
            </a:r>
            <a:r>
              <a:rPr lang="es-ES" sz="3600" b="1" i="1" dirty="0" err="1"/>
              <a:t>digitalRead</a:t>
            </a:r>
            <a:r>
              <a:rPr lang="es-ES" sz="3600" b="1" i="1" dirty="0"/>
              <a:t>(), </a:t>
            </a:r>
            <a:r>
              <a:rPr lang="es-ES" sz="3600" b="1" i="1" dirty="0" err="1"/>
              <a:t>Serial.begin</a:t>
            </a:r>
            <a:r>
              <a:rPr lang="es-ES" sz="3600" b="1" i="1" dirty="0"/>
              <a:t>(), </a:t>
            </a:r>
            <a:r>
              <a:rPr lang="es-ES" sz="3600" b="1" i="1" dirty="0" err="1"/>
              <a:t>millis</a:t>
            </a:r>
            <a:r>
              <a:rPr lang="es-ES" sz="3600" b="1" i="1" dirty="0"/>
              <a:t>(), micros()</a:t>
            </a:r>
            <a:endParaRPr lang="es-PE" sz="3600" b="1" i="1" dirty="0"/>
          </a:p>
        </p:txBody>
      </p:sp>
    </p:spTree>
    <p:extLst>
      <p:ext uri="{BB962C8B-B14F-4D97-AF65-F5344CB8AC3E}">
        <p14:creationId xmlns:p14="http://schemas.microsoft.com/office/powerpoint/2010/main" val="221996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7E36FA15-7C89-2137-32B3-73BEC6F59917}"/>
              </a:ext>
            </a:extLst>
          </p:cNvPr>
          <p:cNvSpPr txBox="1"/>
          <p:nvPr/>
        </p:nvSpPr>
        <p:spPr>
          <a:xfrm>
            <a:off x="-337736" y="2427361"/>
            <a:ext cx="128674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ES" sz="4400" b="1" i="1" noProof="0" dirty="0">
                <a:solidFill>
                  <a:schemeClr val="dk1"/>
                </a:solidFill>
                <a:latin typeface="Anek Latin"/>
                <a:ea typeface="Anek Latin"/>
                <a:cs typeface="Anek Latin"/>
                <a:sym typeface="Anek Latin"/>
              </a:rPr>
              <a:t>“Simulación de un prototipo de </a:t>
            </a:r>
            <a:r>
              <a:rPr lang="es-ES" sz="4400" b="1" i="1" noProof="0" dirty="0">
                <a:solidFill>
                  <a:schemeClr val="dk1"/>
                </a:solidFill>
                <a:highlight>
                  <a:srgbClr val="FFFF00"/>
                </a:highlight>
                <a:latin typeface="Anek Latin"/>
                <a:ea typeface="Anek Latin"/>
                <a:cs typeface="Anek Latin"/>
                <a:sym typeface="Anek Latin"/>
              </a:rPr>
              <a:t>línea de </a:t>
            </a:r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ES" sz="4400" b="1" i="1" dirty="0">
                <a:solidFill>
                  <a:schemeClr val="dk1"/>
                </a:solidFill>
                <a:highlight>
                  <a:srgbClr val="FFFF00"/>
                </a:highlight>
                <a:latin typeface="Anek Latin"/>
                <a:ea typeface="Anek Latin"/>
                <a:cs typeface="Anek Latin"/>
                <a:sym typeface="Anek Latin"/>
              </a:rPr>
              <a:t>Producción</a:t>
            </a:r>
            <a:r>
              <a:rPr lang="es-ES" sz="4400" b="1" i="1" dirty="0">
                <a:solidFill>
                  <a:schemeClr val="dk1"/>
                </a:solidFill>
                <a:latin typeface="Anek Latin"/>
                <a:ea typeface="Anek Latin"/>
                <a:cs typeface="Anek Latin"/>
                <a:sym typeface="Anek Latin"/>
              </a:rPr>
              <a:t> optimizada con sensores de presencia</a:t>
            </a:r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ES" sz="4400" b="1" i="1" dirty="0">
                <a:solidFill>
                  <a:schemeClr val="dk1"/>
                </a:solidFill>
                <a:latin typeface="Anek Latin"/>
                <a:ea typeface="Anek Latin"/>
                <a:cs typeface="Anek Latin"/>
                <a:sym typeface="Anek Latin"/>
              </a:rPr>
              <a:t> y temperatura controlados por Arduino”</a:t>
            </a:r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lang="es-PE" sz="4400" b="1" i="1" noProof="0" dirty="0">
              <a:solidFill>
                <a:schemeClr val="dk1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83BA212-F6EA-8AB2-7910-E00C5693EF79}"/>
              </a:ext>
            </a:extLst>
          </p:cNvPr>
          <p:cNvSpPr txBox="1">
            <a:spLocks/>
          </p:cNvSpPr>
          <p:nvPr/>
        </p:nvSpPr>
        <p:spPr>
          <a:xfrm>
            <a:off x="954157" y="886042"/>
            <a:ext cx="9144000" cy="9191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5400" b="1" dirty="0">
                <a:solidFill>
                  <a:srgbClr val="0070C0"/>
                </a:solidFill>
                <a:latin typeface="Aptos" panose="020B0004020202020204" pitchFamily="34" charset="0"/>
              </a:rPr>
              <a:t>APLICACIÓN:</a:t>
            </a:r>
            <a:endParaRPr lang="es-PE" sz="54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937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80842-255B-AA4A-A327-690CED55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39756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MX" sz="5400" b="1" dirty="0">
                <a:solidFill>
                  <a:srgbClr val="0070C0"/>
                </a:solidFill>
                <a:latin typeface="Aptos" panose="020B0004020202020204" pitchFamily="34" charset="0"/>
              </a:rPr>
              <a:t>¿Qué es una línea de producción?</a:t>
            </a:r>
            <a:endParaRPr lang="es-PE" sz="54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BBCAE-FA4E-56DB-8E5D-6D551A85B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628" y="2219565"/>
            <a:ext cx="10982739" cy="3750019"/>
          </a:xfrm>
        </p:spPr>
        <p:txBody>
          <a:bodyPr>
            <a:noAutofit/>
          </a:bodyPr>
          <a:lstStyle/>
          <a:p>
            <a:pPr algn="just"/>
            <a:r>
              <a:rPr lang="es-MX" sz="3200" dirty="0"/>
              <a:t>Es un sistema organizado e integrado que es capaz de generar productos iguales de una forma continua y eficiente.</a:t>
            </a:r>
          </a:p>
          <a:p>
            <a:pPr marL="0" indent="0" algn="just">
              <a:buNone/>
            </a:pPr>
            <a:endParaRPr lang="es-MX" sz="3200" dirty="0"/>
          </a:p>
          <a:p>
            <a:pPr algn="just"/>
            <a:r>
              <a:rPr lang="es-MX" sz="3200" dirty="0"/>
              <a:t>Suele estar compuesto por “unidades”, “estaciones” o “partes” que realizan tareas especificas trasformando la materia prima en productos elaborados.</a:t>
            </a:r>
            <a:endParaRPr lang="es-PE" sz="3200" dirty="0"/>
          </a:p>
        </p:txBody>
      </p:sp>
    </p:spTree>
    <p:extLst>
      <p:ext uri="{BB962C8B-B14F-4D97-AF65-F5344CB8AC3E}">
        <p14:creationId xmlns:p14="http://schemas.microsoft.com/office/powerpoint/2010/main" val="3066103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ersonas que trabajan en la línea de producción. Transportador | Vector  Premium">
            <a:extLst>
              <a:ext uri="{FF2B5EF4-FFF2-40B4-BE49-F238E27FC236}">
                <a16:creationId xmlns:a16="http://schemas.microsoft.com/office/drawing/2014/main" id="{3DC71600-6BF1-ADFA-F2D2-B292CD6B2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28" y="848139"/>
            <a:ext cx="10510085" cy="5909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1370D1D1-FB7A-F35A-8D6C-64AFF2FA7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81" y="1000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MX" sz="4800" b="1" dirty="0">
                <a:solidFill>
                  <a:srgbClr val="0070C0"/>
                </a:solidFill>
                <a:latin typeface="Aptos" panose="020B0004020202020204" pitchFamily="34" charset="0"/>
              </a:rPr>
              <a:t>Línea de Producción :personas</a:t>
            </a:r>
            <a:endParaRPr lang="es-PE" sz="48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407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ómo aumentar la producción en una fábrica: Claves básicas">
            <a:extLst>
              <a:ext uri="{FF2B5EF4-FFF2-40B4-BE49-F238E27FC236}">
                <a16:creationId xmlns:a16="http://schemas.microsoft.com/office/drawing/2014/main" id="{31FEC266-64EF-2868-19DF-A7D62BEF3F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2052" name="Picture 4" descr="software de planificación de la línea de producción | Siemens Software">
            <a:extLst>
              <a:ext uri="{FF2B5EF4-FFF2-40B4-BE49-F238E27FC236}">
                <a16:creationId xmlns:a16="http://schemas.microsoft.com/office/drawing/2014/main" id="{FCFF4B41-98BF-5389-85D5-A48C293C2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922" y="1423781"/>
            <a:ext cx="7245625" cy="543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E454D15-C73B-54C1-7B77-BC9612157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46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MX" sz="4800" b="1" dirty="0">
                <a:solidFill>
                  <a:srgbClr val="0070C0"/>
                </a:solidFill>
                <a:latin typeface="Aptos" panose="020B0004020202020204" pitchFamily="34" charset="0"/>
              </a:rPr>
              <a:t>Línea de Producción : automatizada</a:t>
            </a:r>
            <a:endParaRPr lang="es-PE" sz="48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858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66E1ED-A49A-FD4A-9D12-F3B987A8A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pPr algn="ctr"/>
            <a:r>
              <a:rPr lang="es-MX" sz="4400" b="1" dirty="0">
                <a:solidFill>
                  <a:srgbClr val="0070C0"/>
                </a:solidFill>
                <a:latin typeface="Aptos" panose="020B0004020202020204" pitchFamily="34" charset="0"/>
              </a:rPr>
              <a:t>¿</a:t>
            </a:r>
            <a:r>
              <a:rPr lang="es-MX" b="1" dirty="0">
                <a:solidFill>
                  <a:srgbClr val="0070C0"/>
                </a:solidFill>
                <a:latin typeface="Aptos" panose="020B0004020202020204" pitchFamily="34" charset="0"/>
              </a:rPr>
              <a:t>Cómo se puede prototipar</a:t>
            </a:r>
            <a:r>
              <a:rPr lang="es-MX" sz="4400" b="1" dirty="0">
                <a:solidFill>
                  <a:srgbClr val="0070C0"/>
                </a:solidFill>
                <a:latin typeface="Aptos" panose="020B0004020202020204" pitchFamily="34" charset="0"/>
              </a:rPr>
              <a:t>? </a:t>
            </a:r>
            <a:br>
              <a:rPr lang="es-MX" sz="4400" b="1" dirty="0">
                <a:solidFill>
                  <a:srgbClr val="0070C0"/>
                </a:solidFill>
                <a:latin typeface="Aptos" panose="020B0004020202020204" pitchFamily="34" charset="0"/>
              </a:rPr>
            </a:br>
            <a:r>
              <a:rPr lang="es-MX" b="1" dirty="0">
                <a:solidFill>
                  <a:srgbClr val="0070C0"/>
                </a:solidFill>
                <a:latin typeface="Aptos" panose="020B0004020202020204" pitchFamily="34" charset="0"/>
              </a:rPr>
              <a:t>¿Qué se necesitara?</a:t>
            </a:r>
            <a:endParaRPr lang="es-PE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FFE645B9-8E13-DB54-5609-3E945D37A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358" y="1795496"/>
            <a:ext cx="11107807" cy="4910104"/>
          </a:xfrm>
        </p:spPr>
        <p:txBody>
          <a:bodyPr>
            <a:noAutofit/>
          </a:bodyPr>
          <a:lstStyle/>
          <a:p>
            <a:pPr algn="just"/>
            <a:r>
              <a:rPr lang="es-MX" sz="3200" dirty="0"/>
              <a:t>Una aplicación muy vista se encuentra en los extrusores o generadores de filamento cuya materia prima es el plástico reciclado de las botellas.</a:t>
            </a:r>
          </a:p>
          <a:p>
            <a:pPr marL="0" indent="0" algn="just">
              <a:buNone/>
            </a:pPr>
            <a:endParaRPr lang="es-MX" sz="3200" dirty="0"/>
          </a:p>
          <a:p>
            <a:pPr algn="just"/>
            <a:r>
              <a:rPr lang="es-MX" sz="3200" dirty="0"/>
              <a:t>Debe contar por lo menos con las etapas: </a:t>
            </a:r>
          </a:p>
          <a:p>
            <a:pPr marL="0" indent="0" algn="just">
              <a:buNone/>
            </a:pPr>
            <a:r>
              <a:rPr lang="es-MX" sz="3200" dirty="0"/>
              <a:t>	-</a:t>
            </a:r>
            <a:r>
              <a:rPr lang="es-MX" sz="3200" b="1" dirty="0"/>
              <a:t> Acumulación </a:t>
            </a:r>
            <a:r>
              <a:rPr lang="es-MX" sz="3200" dirty="0"/>
              <a:t>inicial de material	</a:t>
            </a:r>
          </a:p>
          <a:p>
            <a:pPr marL="0" indent="0" algn="just">
              <a:buNone/>
            </a:pPr>
            <a:r>
              <a:rPr lang="es-MX" sz="3200" dirty="0"/>
              <a:t>	-</a:t>
            </a:r>
            <a:r>
              <a:rPr lang="es-MX" sz="3200" b="1" dirty="0"/>
              <a:t> Control de temperatura</a:t>
            </a:r>
            <a:r>
              <a:rPr lang="es-MX" sz="3200" dirty="0"/>
              <a:t>(ser </a:t>
            </a:r>
            <a:r>
              <a:rPr lang="es-MX" sz="3200" dirty="0" err="1"/>
              <a:t>cte</a:t>
            </a:r>
            <a:r>
              <a:rPr lang="es-MX" sz="3200" dirty="0"/>
              <a:t>)</a:t>
            </a:r>
          </a:p>
          <a:p>
            <a:pPr marL="0" indent="0" algn="just">
              <a:buNone/>
            </a:pPr>
            <a:r>
              <a:rPr lang="es-MX" sz="3200" dirty="0"/>
              <a:t>	-</a:t>
            </a:r>
            <a:r>
              <a:rPr lang="es-MX" sz="3200" b="1" dirty="0"/>
              <a:t>Extracción</a:t>
            </a:r>
            <a:r>
              <a:rPr lang="es-MX" sz="3200" dirty="0"/>
              <a:t> de material(mediate motor PAP)</a:t>
            </a:r>
          </a:p>
          <a:p>
            <a:pPr marL="0" indent="0" algn="just">
              <a:buNone/>
            </a:pPr>
            <a:r>
              <a:rPr lang="es-MX" sz="3200" dirty="0"/>
              <a:t>	-</a:t>
            </a:r>
            <a:r>
              <a:rPr lang="es-MX" sz="3200" b="1" dirty="0"/>
              <a:t> Bobinado </a:t>
            </a:r>
            <a:r>
              <a:rPr lang="es-MX" sz="3200" dirty="0"/>
              <a:t>o enrollamiento. (</a:t>
            </a:r>
            <a:r>
              <a:rPr lang="es-MX" sz="3200" dirty="0">
                <a:highlight>
                  <a:srgbClr val="FFFF00"/>
                </a:highlight>
              </a:rPr>
              <a:t>material final</a:t>
            </a:r>
            <a:r>
              <a:rPr lang="es-MX" sz="3200" dirty="0"/>
              <a:t>)</a:t>
            </a:r>
            <a:endParaRPr lang="es-PE" sz="3200" dirty="0"/>
          </a:p>
        </p:txBody>
      </p:sp>
    </p:spTree>
    <p:extLst>
      <p:ext uri="{BB962C8B-B14F-4D97-AF65-F5344CB8AC3E}">
        <p14:creationId xmlns:p14="http://schemas.microsoft.com/office/powerpoint/2010/main" val="1153429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965E7C4-4B0F-DD22-60A8-98CCE456D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576" y="1023038"/>
            <a:ext cx="10352847" cy="5682562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BB2F4136-DE8B-8DB4-14C7-29F526D41242}"/>
              </a:ext>
            </a:extLst>
          </p:cNvPr>
          <p:cNvSpPr txBox="1">
            <a:spLocks/>
          </p:cNvSpPr>
          <p:nvPr/>
        </p:nvSpPr>
        <p:spPr>
          <a:xfrm>
            <a:off x="838200" y="152400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b="1" dirty="0">
                <a:solidFill>
                  <a:srgbClr val="0070C0"/>
                </a:solidFill>
                <a:latin typeface="Aptos" panose="020B0004020202020204" pitchFamily="34" charset="0"/>
              </a:rPr>
              <a:t>MODELAMIENTO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7723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04FA123-6807-0B4B-62D4-A64D71D7B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37" y="1421641"/>
            <a:ext cx="11825326" cy="3507956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FBC528DB-6B37-6FAD-2E31-0B5A86D16112}"/>
              </a:ext>
            </a:extLst>
          </p:cNvPr>
          <p:cNvSpPr txBox="1">
            <a:spLocks/>
          </p:cNvSpPr>
          <p:nvPr/>
        </p:nvSpPr>
        <p:spPr>
          <a:xfrm>
            <a:off x="838200" y="152400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b="1" dirty="0">
                <a:solidFill>
                  <a:srgbClr val="0070C0"/>
                </a:solidFill>
                <a:latin typeface="Aptos" panose="020B0004020202020204" pitchFamily="34" charset="0"/>
              </a:rPr>
              <a:t>MODELAMIENTO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408126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307</Words>
  <Application>Microsoft Office PowerPoint</Application>
  <PresentationFormat>Panorámica</PresentationFormat>
  <Paragraphs>38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3" baseType="lpstr">
      <vt:lpstr>Anek Latin</vt:lpstr>
      <vt:lpstr>Aptos</vt:lpstr>
      <vt:lpstr>Arial</vt:lpstr>
      <vt:lpstr>Calibri</vt:lpstr>
      <vt:lpstr>Calibri Light</vt:lpstr>
      <vt:lpstr>Comic Sans MS</vt:lpstr>
      <vt:lpstr>Söhne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SINTAXIS DE REFERENCIA Y FUNCIONES </vt:lpstr>
      <vt:lpstr>Presentación de PowerPoint</vt:lpstr>
      <vt:lpstr>¿Qué es una línea de producción?</vt:lpstr>
      <vt:lpstr>Línea de Producción :personas</vt:lpstr>
      <vt:lpstr>Línea de Producción : automatizada</vt:lpstr>
      <vt:lpstr>¿Cómo se puede prototipar?  ¿Qué se necesitara?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User_SERGIO</dc:creator>
  <cp:lastModifiedBy>User_SERGIO</cp:lastModifiedBy>
  <cp:revision>7</cp:revision>
  <dcterms:created xsi:type="dcterms:W3CDTF">2025-06-10T18:07:07Z</dcterms:created>
  <dcterms:modified xsi:type="dcterms:W3CDTF">2025-06-10T19:38:56Z</dcterms:modified>
</cp:coreProperties>
</file>